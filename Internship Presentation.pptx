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Master+xml" PartName="/ppt/slideMasters/slideMaster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1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y="6858000" cx="12192000"/>
  <p:notesSz cx="6858000" cy="9144000"/>
  <p:defaultTextStyle>
    <a:defPPr lvl="0">
      <a:defRPr lang="en-US"/>
    </a:defPPr>
    <a:lvl1pPr defTabSz="9144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9144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9144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9144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9144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9144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9144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9144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9144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1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3ED4DC-3FA6-4A5D-B14A-9248B970DC9B}" type="datetimeFigureOut">
              <a:rPr lang="en-IN" smtClean="0"/>
              <a:t>05-08-2025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A275E3-DDC8-40B5-B76B-0ED626DA22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41170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A275E3-DDC8-40B5-B76B-0ED626DA22B9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53641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A275E3-DDC8-40B5-B76B-0ED626DA22B9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82099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97B0C-E0EF-BD01-69DA-223037203A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FFF90B-08F9-0BC5-CCFD-825E2E529E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2D5146-2D4B-E716-3DBF-8E7EC8E08C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BFCB5-2F1F-4CF0-A692-4660BCE4AB55}" type="datetimeFigureOut">
              <a:rPr lang="en-IN" smtClean="0"/>
              <a:t>05-08-2025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15A340-0373-86CA-850F-ADF8BAEBA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3FC9F8-F6B1-BEAB-3F6E-EF7FEF7A8D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02850-2158-46A0-A801-8AA958CCAC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78091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48676-8D9D-9ABA-9364-3627E0485F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A1D2D2-1361-EBF4-99AB-DDD839C4D4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CE096F-5E4B-A4ED-2FFC-1504153E32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BFCB5-2F1F-4CF0-A692-4660BCE4AB55}" type="datetimeFigureOut">
              <a:rPr lang="en-IN" smtClean="0"/>
              <a:t>05-08-2025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83FF52-5DA3-9745-1DD1-158D70F3C2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DD62F3-BC97-A9AF-4BEF-E3E92CF865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02850-2158-46A0-A801-8AA958CCAC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41598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48FAB7-AF7A-23B8-5D96-8CCC440251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8A6F3D-2E99-9AF3-9C2D-38ABF61E39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789EC3-2CFB-3639-F5F5-7EB8491B2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BFCB5-2F1F-4CF0-A692-4660BCE4AB55}" type="datetimeFigureOut">
              <a:rPr lang="en-IN" smtClean="0"/>
              <a:t>05-08-2025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856E2A-DBF7-1453-9487-5BC5BDFFB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028FF4-91A6-9DEC-ADAF-1122F1C4D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02850-2158-46A0-A801-8AA958CCAC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88556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CF1373-DBE0-CBF8-8586-096AA39CD9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E4553A-0CD2-FDA9-2D42-2C7E00E94E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00AECA-013A-C9B4-BAE9-6622B20E6A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8E8EFD-C0C7-2C59-88BF-CBCFAA883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BFCB5-2F1F-4CF0-A692-4660BCE4AB55}" type="datetimeFigureOut">
              <a:rPr lang="en-IN" smtClean="0"/>
              <a:t>05-08-2025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82EB30-BB69-350E-3386-1C4EB34EA1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A943CE-8CA9-DA6C-EB07-64B793BCC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02850-2158-46A0-A801-8AA958CCAC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25471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E16C6-758B-2C0C-0CC7-1135FE0E73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009985-2DCF-5B62-BF55-18BB28BABC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A579C6-FE42-1C4A-4855-6C37F1A262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98F290D-760E-A28E-B11C-FB74E1AFB0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2FB1D2-FFFD-1C22-4666-8F2E0322A4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A854498-45CC-BFF1-B0FD-84191739B9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BFCB5-2F1F-4CF0-A692-4660BCE4AB55}" type="datetimeFigureOut">
              <a:rPr lang="en-IN" smtClean="0"/>
              <a:t>05-08-2025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7ECC4AA-5874-DCE4-BF40-144A5B74E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FAA9ED-ABE3-C59E-EEE0-A124131EE6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02850-2158-46A0-A801-8AA958CCAC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74773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24C59C-A2BD-759B-D107-A9D50CFC8A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A90D263-775D-D568-2C84-A71F41D39B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BFCB5-2F1F-4CF0-A692-4660BCE4AB55}" type="datetimeFigureOut">
              <a:rPr lang="en-IN" smtClean="0"/>
              <a:t>05-08-2025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937BDA-B1D8-092B-B822-315F5848F0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323834-B004-3F42-2560-CC9B8F041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02850-2158-46A0-A801-8AA958CCAC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89141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17ECC28-A480-1114-F13C-6D3F90AA4A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BFCB5-2F1F-4CF0-A692-4660BCE4AB55}" type="datetimeFigureOut">
              <a:rPr lang="en-IN" smtClean="0"/>
              <a:t>05-08-2025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6C51319-A1F1-387C-DA92-C0C79B4A3E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4A7E66-22A7-90C9-736F-4338B87E9B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02850-2158-46A0-A801-8AA958CCAC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28928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56A63A-A455-FBDA-B5B2-2F98ADFE8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458BDC-1DAE-AF15-93EE-F89D70C7CE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6D007A-BCB6-F093-AE2A-0730D413C1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A540D8-78A3-9A84-6B3D-F8057F1118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BFCB5-2F1F-4CF0-A692-4660BCE4AB55}" type="datetimeFigureOut">
              <a:rPr lang="en-IN" smtClean="0"/>
              <a:t>05-08-2025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EDDE90-2526-892C-2029-4334408E2C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E043FE-BB0C-B792-B4B7-96C60D2636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02850-2158-46A0-A801-8AA958CCAC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02436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109F1B-C442-E9F7-197A-1A23C68430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D2F2E96-6F26-BFF7-21F0-D8DC9F0AFD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04E865-309B-29CB-5956-139BA151B4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E29E19-4710-BB39-3E03-BE5EACA728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BFCB5-2F1F-4CF0-A692-4660BCE4AB55}" type="datetimeFigureOut">
              <a:rPr lang="en-IN" smtClean="0"/>
              <a:t>05-08-2025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EC6D82-BA5C-0603-D626-034CC27571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5CFBEF-F6F9-82E8-ED0B-9F34CD917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02850-2158-46A0-A801-8AA958CCAC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7826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DE75F-1E4C-7C8A-61E6-3368E8FB33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F1B9BA-A02D-7CC9-C8C5-4D1ACBE8A0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570B86-0BFA-996E-290D-5111963B4E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BFCB5-2F1F-4CF0-A692-4660BCE4AB55}" type="datetimeFigureOut">
              <a:rPr lang="en-IN" smtClean="0"/>
              <a:t>05-08-2025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E84FCD-F46D-AD39-2E0F-ED294E9812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50EB3D-FB4F-E64E-B93F-AE230F9FB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02850-2158-46A0-A801-8AA958CCAC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15274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6B73008-1BF2-A555-B8A3-249C50CB18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CFEE17-0891-8316-4BA7-6932964B44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0B86BA-88FF-608F-DB05-ADEA3E83A5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BFCB5-2F1F-4CF0-A692-4660BCE4AB55}" type="datetimeFigureOut">
              <a:rPr lang="en-IN" smtClean="0"/>
              <a:t>05-08-2025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555BFD-9529-2FF7-7FCE-FCADE249C9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CA6FD3-7DAF-D7E5-D026-210655B27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02850-2158-46A0-A801-8AA958CCAC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61593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15AFEDB-56FD-2C6D-490B-B731E2E2BD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6740C2-5311-B221-1F60-C1AF6175C2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91FAA1-375C-7654-9BAC-EF2D96C544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6BFCB5-2F1F-4CF0-A692-4660BCE4AB55}" type="datetimeFigureOut">
              <a:rPr lang="en-IN" smtClean="0"/>
              <a:t>05-08-2025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FDB4BE-69D0-55A1-7DBC-A26C2A67CA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6D2C6F-D056-E8D7-6238-30D7505A5A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802850-2158-46A0-A801-8AA958CCAC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63331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101A15C-FF97-2248-BF4E-CBAAECB3A9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37802"/>
            <a:ext cx="12192000" cy="2582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43052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A7AEEB-6800-2DDC-7B10-A11C4E0FA1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47252"/>
            <a:ext cx="9144000" cy="1907457"/>
          </a:xfrm>
        </p:spPr>
        <p:txBody>
          <a:bodyPr>
            <a:normAutofit/>
          </a:bodyPr>
          <a:lstStyle/>
          <a:p>
            <a:r>
              <a:rPr lang="en-US" b="1" dirty="0">
                <a:latin typeface="Aparajita" panose="02020603050405020304" pitchFamily="18" charset="0"/>
                <a:cs typeface="Aparajita" panose="02020603050405020304" pitchFamily="18" charset="0"/>
              </a:rPr>
              <a:t>PCB DESIGN FOR CYCLIC VOLTAMMETRY BOARD</a:t>
            </a:r>
            <a:endParaRPr lang="en-IN" b="1" dirty="0">
              <a:latin typeface="Aparajita" panose="02020603050405020304" pitchFamily="18" charset="0"/>
              <a:cs typeface="Aparajita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F39F09-8812-DA0A-B9D2-D193878755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249563"/>
            <a:ext cx="9144000" cy="2920180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Name: Dhruv Dhanraj Sawarkar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College Reg No.: 23070634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Application no.: 2879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Institution: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Yeshwantrao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Chavan College of Engineering Nagpur.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Department: Electrical Engineering and Computer Science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Lab: Sixth sense lab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Supervisor: Dr. Santanu Talukder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Duration: 26 may, 2025 – 21 June, 2025</a:t>
            </a:r>
          </a:p>
        </p:txBody>
      </p:sp>
    </p:spTree>
    <p:extLst>
      <p:ext uri="{BB962C8B-B14F-4D97-AF65-F5344CB8AC3E}">
        <p14:creationId xmlns:p14="http://schemas.microsoft.com/office/powerpoint/2010/main" val="23364301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835D3B-0D04-DCAA-63DD-B62E799588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>
                <a:latin typeface="Aparajita" panose="02020603050405020304" pitchFamily="18" charset="0"/>
                <a:cs typeface="Aparajita" panose="02020603050405020304" pitchFamily="18" charset="0"/>
              </a:rPr>
              <a:t>INTRODUCTION:</a:t>
            </a:r>
            <a:endParaRPr lang="en-IN" sz="4000" b="1" dirty="0">
              <a:latin typeface="Aparajita" panose="02020603050405020304" pitchFamily="18" charset="0"/>
              <a:cs typeface="Aparajita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561761-0BCB-165A-D382-3ECD87D787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This project focuses on the design and development of a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Cyclic Voltammetry (CV) board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which is used for electrochemical analysis to study redox reactions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work involved understanding the working principles of 2-electrode and 3-electrode systems, designing current detection circuits using operational amplifiers, and simulating them in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LTspice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 The final circuit was translated into a PCB layout using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KiCad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367134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"/>
          <p:cNvSpPr txBox="1"/>
          <p:nvPr>
            <p:ph type="title"/>
          </p:nvPr>
        </p:nvSpPr>
        <p:spPr>
          <a:xfrm>
            <a:off x="811161" y="32579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3333"/>
              <a:buFont typeface="Aparajita"/>
              <a:buNone/>
            </a:pPr>
            <a:r>
              <a:rPr b="1" lang="en-US">
                <a:latin typeface="Aparajita"/>
                <a:ea typeface="Aparajita"/>
                <a:cs typeface="Aparajita"/>
                <a:sym typeface="Aparajita"/>
              </a:rPr>
              <a:t>PCB DESIGN OF RC PHASE SHIFT OSCILLATOR</a:t>
            </a:r>
            <a:r>
              <a:rPr lang="en-US" sz="6000">
                <a:latin typeface="Aparajita"/>
                <a:ea typeface="Aparajita"/>
                <a:cs typeface="Aparajita"/>
                <a:sym typeface="Aparajita"/>
              </a:rPr>
              <a:t>.</a:t>
            </a:r>
            <a:endParaRPr sz="6000">
              <a:latin typeface="Aparajita"/>
              <a:ea typeface="Aparajita"/>
              <a:cs typeface="Aparajita"/>
              <a:sym typeface="Aparajita"/>
            </a:endParaRPr>
          </a:p>
        </p:txBody>
      </p:sp>
      <p:sp>
        <p:nvSpPr>
          <p:cNvPr id="13" name="Google Shape;13;p1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We were asked to design a PCB for an RC Phase Shift Oscillator which was carried out at Ki-cad. It was a single-layer PCB.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US" sz="2400"/>
              <a:t>Key Components Used:</a:t>
            </a:r>
            <a:endParaRPr sz="24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Operational Amplifier (op-amp)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Resistors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Capacitors (typically 0.01 µF)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Power supply as per requirement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BC4E9CA-D3D3-2BE2-EF3D-2744ED53D4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b="1" dirty="0">
                <a:latin typeface="Aparajita" panose="02020603050405020304" pitchFamily="18" charset="0"/>
                <a:cs typeface="Aparajita" panose="02020603050405020304" pitchFamily="18" charset="0"/>
              </a:rPr>
              <a:t>PCB SCHEMATIC OF RC PHASE SHIFT OSCILLATOR</a:t>
            </a:r>
            <a:r>
              <a:rPr lang="en-US" sz="4000" dirty="0"/>
              <a:t>.</a:t>
            </a:r>
            <a:endParaRPr lang="en-IN" sz="4000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2F7B9CEC-4F74-0B59-620B-67F6BD387E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7747" y="1355408"/>
            <a:ext cx="9336505" cy="4802187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CA89E93-452F-29F7-E2E3-D3CB46D6FF53}"/>
              </a:ext>
            </a:extLst>
          </p:cNvPr>
          <p:cNvSpPr txBox="1"/>
          <p:nvPr/>
        </p:nvSpPr>
        <p:spPr>
          <a:xfrm>
            <a:off x="5659118" y="6323598"/>
            <a:ext cx="87376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Figure 1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3848814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B789FD2-43BC-0E2C-0715-121A85A348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000" b="1" dirty="0">
                <a:latin typeface="Aparajita" panose="02020603050405020304" pitchFamily="18" charset="0"/>
                <a:cs typeface="Aparajita" panose="02020603050405020304" pitchFamily="18" charset="0"/>
              </a:rPr>
              <a:t>PCB LAYOUT OF RC PHASE SHIFT OSCILLATOR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19E7CFB-96CE-CA05-7EA2-ECB40766951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4105" y="1440098"/>
            <a:ext cx="9063790" cy="4890217"/>
          </a:xfr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30E64E8-35AA-D287-897F-E704EBCD5894}"/>
              </a:ext>
            </a:extLst>
          </p:cNvPr>
          <p:cNvSpPr txBox="1"/>
          <p:nvPr/>
        </p:nvSpPr>
        <p:spPr>
          <a:xfrm>
            <a:off x="5542280" y="6330315"/>
            <a:ext cx="11074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Figure 2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12825601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092F34-51D7-907D-759E-6E710D1ED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6132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latin typeface="Aparajita" panose="02020603050405020304" pitchFamily="18" charset="0"/>
                <a:cs typeface="Aparajita" panose="02020603050405020304" pitchFamily="18" charset="0"/>
              </a:rPr>
              <a:t>CURRENT DETECTION CIRCUIT</a:t>
            </a:r>
            <a:r>
              <a:rPr lang="en-US" sz="4800" b="1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IN" sz="4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AA75A4-7F14-E666-1545-92C72B2F82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31695"/>
            <a:ext cx="10515600" cy="454526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Our team worked on designing a current sensing circuit using a transimpedance amplifier (TIA) setup.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LTspice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was used for simulating performance, and the circuit was later implemented in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KiCad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buNone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- Designed a current sensing circuit using a Transimpedance Amplifier (TIA)</a:t>
            </a:r>
          </a:p>
          <a:p>
            <a:pPr marL="0" indent="0"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- Used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LTSpice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for simulation and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KiCad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for PCB design.</a:t>
            </a:r>
          </a:p>
          <a:p>
            <a:pPr marL="0" indent="0"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- Target current range: (1 µA to 200 µA).</a:t>
            </a:r>
          </a:p>
          <a:p>
            <a:pPr marL="0" indent="0"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- LM158 used with high-value feedback resistor e.g.100k</a:t>
            </a:r>
            <a:r>
              <a:rPr lang="el-GR" sz="2000" dirty="0">
                <a:latin typeface="Arial" panose="020B0604020202020204" pitchFamily="34" charset="0"/>
                <a:cs typeface="Arial" panose="020B0604020202020204" pitchFamily="34" charset="0"/>
              </a:rPr>
              <a:t>Ω</a:t>
            </a:r>
          </a:p>
          <a:p>
            <a:pPr>
              <a:buFontTx/>
              <a:buChar char="-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When current in downward Direction, Output voltage = (Input current × Feedback resistor)</a:t>
            </a:r>
          </a:p>
          <a:p>
            <a:pPr marL="0" indent="0"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- Example: If input current = 1 µA and feedback resistor = 100 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kΩ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b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then output voltage = (1 µA × 100 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kΩ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) = 100mV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509479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73014-240E-CB77-9810-F7F1F2040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7149"/>
            <a:ext cx="10515600" cy="1288025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latin typeface="Aparajita" panose="02020603050405020304" pitchFamily="18" charset="0"/>
                <a:cs typeface="Aparajita" panose="02020603050405020304" pitchFamily="18" charset="0"/>
              </a:rPr>
              <a:t>LTSPICE SIMULATION OF CURRENT DETECTION CIRCUIT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IN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85A190C-3074-9849-0A2A-B6F9F651C6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567" y="1170695"/>
            <a:ext cx="9848306" cy="4976106"/>
          </a:xfr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93E1DAE-C9AE-7BFE-79D2-5BD6CF88B24E}"/>
              </a:ext>
            </a:extLst>
          </p:cNvPr>
          <p:cNvSpPr txBox="1"/>
          <p:nvPr/>
        </p:nvSpPr>
        <p:spPr>
          <a:xfrm>
            <a:off x="5521960" y="6321519"/>
            <a:ext cx="985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Figure 3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23192494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FCB10D-C183-64E6-AE15-F7D330DA2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8491"/>
            <a:ext cx="10515600" cy="1248696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latin typeface="Aparajita" panose="02020603050405020304" pitchFamily="18" charset="0"/>
                <a:cs typeface="Aparajita" panose="02020603050405020304" pitchFamily="18" charset="0"/>
              </a:rPr>
              <a:t>PCB LAYOUT OF CURRENT DETECTION CIRCUIT.</a:t>
            </a:r>
            <a:endParaRPr lang="en-IN" b="1" dirty="0">
              <a:latin typeface="Aparajita" panose="02020603050405020304" pitchFamily="18" charset="0"/>
              <a:cs typeface="Aparajita" panose="02020603050405020304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6CEC423-5B53-2FC9-F1C7-79828BB82E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9116" y="983881"/>
            <a:ext cx="9104670" cy="5254359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8EE9C65-00F8-DB32-F816-D333752B405B}"/>
              </a:ext>
            </a:extLst>
          </p:cNvPr>
          <p:cNvSpPr txBox="1"/>
          <p:nvPr/>
        </p:nvSpPr>
        <p:spPr>
          <a:xfrm>
            <a:off x="5478371" y="6400177"/>
            <a:ext cx="10261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Figure 4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356161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F072E9-7391-4F6C-6407-A6D460ACC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5718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latin typeface="Aparajita" panose="02020603050405020304" pitchFamily="18" charset="0"/>
                <a:cs typeface="Aparajita" panose="02020603050405020304" pitchFamily="18" charset="0"/>
              </a:rPr>
              <a:t>3D VIEW OF CURRENT DETECTION CIRCUIT.</a:t>
            </a:r>
            <a:endParaRPr lang="en-IN" b="1" dirty="0">
              <a:latin typeface="Aparajita" panose="02020603050405020304" pitchFamily="18" charset="0"/>
              <a:cs typeface="Aparajita" panose="02020603050405020304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2FDE6FD-3743-9A9F-56A2-6E0FFD5721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4721" y="1260823"/>
            <a:ext cx="8642555" cy="4896137"/>
          </a:xfr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07B74DD-532E-E8FF-84E8-5E822E08F754}"/>
              </a:ext>
            </a:extLst>
          </p:cNvPr>
          <p:cNvSpPr txBox="1"/>
          <p:nvPr/>
        </p:nvSpPr>
        <p:spPr>
          <a:xfrm>
            <a:off x="5603238" y="6319520"/>
            <a:ext cx="985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Figure 5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796031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30C640-6B2D-F246-DC70-6822E89B53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Aparajita" panose="02020603050405020304" pitchFamily="18" charset="0"/>
                <a:cs typeface="Aparajita" panose="02020603050405020304" pitchFamily="18" charset="0"/>
              </a:rPr>
              <a:t>GERBER VIEW OF CURRENT DETECTION CIRCUIT.</a:t>
            </a:r>
            <a:endParaRPr lang="en-IN" sz="4000" b="1" dirty="0">
              <a:latin typeface="Aparajita" panose="02020603050405020304" pitchFamily="18" charset="0"/>
              <a:cs typeface="Aparajita" panose="02020603050405020304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ED09E4F-DEF4-1BC9-24A7-A3F563D08E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62" t="5274" r="4558" b="5934"/>
          <a:stretch>
            <a:fillRect/>
          </a:stretch>
        </p:blipFill>
        <p:spPr>
          <a:xfrm>
            <a:off x="2237740" y="1503681"/>
            <a:ext cx="7716520" cy="4572634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46FC408-7CE4-E701-805F-7942184191B4}"/>
              </a:ext>
            </a:extLst>
          </p:cNvPr>
          <p:cNvSpPr txBox="1"/>
          <p:nvPr/>
        </p:nvSpPr>
        <p:spPr>
          <a:xfrm>
            <a:off x="5608320" y="6308209"/>
            <a:ext cx="9753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Figure 6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923467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4A7EE4-BF47-F643-FFC4-A544082BA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Aparajita" panose="02020603050405020304" pitchFamily="18" charset="0"/>
                <a:cs typeface="Aparajita" panose="02020603050405020304" pitchFamily="18" charset="0"/>
              </a:rPr>
              <a:t>MY LEARNINGS</a:t>
            </a:r>
            <a:r>
              <a:rPr lang="en-US" dirty="0"/>
              <a:t>.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D29298-E407-77D2-F500-7BE7FE25E0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Learned complete workflow of </a:t>
            </a:r>
            <a:r>
              <a:rPr lang="en-US" b="1" dirty="0" err="1"/>
              <a:t>KiCad</a:t>
            </a:r>
            <a:r>
              <a:rPr lang="en-US" dirty="0"/>
              <a:t>: schematic design, PCB layout, and 3D view</a:t>
            </a:r>
          </a:p>
          <a:p>
            <a:r>
              <a:rPr lang="en-US" dirty="0"/>
              <a:t>Got familiar with </a:t>
            </a:r>
            <a:r>
              <a:rPr lang="en-US" b="1" dirty="0" err="1"/>
              <a:t>LTSpice</a:t>
            </a:r>
            <a:r>
              <a:rPr lang="en-US" dirty="0"/>
              <a:t> for analog circuit simulation and waveform analysis</a:t>
            </a:r>
          </a:p>
          <a:p>
            <a:r>
              <a:rPr lang="en-US" dirty="0"/>
              <a:t>Understood the concept of </a:t>
            </a:r>
            <a:r>
              <a:rPr lang="en-US" b="1" dirty="0"/>
              <a:t>2-electrode and 3-electrode systems</a:t>
            </a:r>
            <a:r>
              <a:rPr lang="en-US" dirty="0"/>
              <a:t> used in electrochemical analysis</a:t>
            </a:r>
          </a:p>
          <a:p>
            <a:r>
              <a:rPr lang="en-US" dirty="0"/>
              <a:t>Designed circuits like the </a:t>
            </a:r>
            <a:r>
              <a:rPr lang="en-US" b="1" dirty="0"/>
              <a:t>RC Phase Shift Oscillator</a:t>
            </a:r>
            <a:r>
              <a:rPr lang="en-US" dirty="0"/>
              <a:t> and </a:t>
            </a:r>
            <a:r>
              <a:rPr lang="en-US" b="1" dirty="0"/>
              <a:t>Current Detection (TIA).</a:t>
            </a:r>
            <a:endParaRPr lang="en-US" dirty="0"/>
          </a:p>
          <a:p>
            <a:r>
              <a:rPr lang="en-US" dirty="0"/>
              <a:t>Developed a </a:t>
            </a:r>
            <a:r>
              <a:rPr lang="en-US" b="1" dirty="0"/>
              <a:t>low-current sensing circuit</a:t>
            </a:r>
            <a:r>
              <a:rPr lang="en-US" dirty="0"/>
              <a:t> (1 µA to 200 µA) using a </a:t>
            </a:r>
            <a:r>
              <a:rPr lang="en-US" b="1" dirty="0"/>
              <a:t>Transimpedance Amplifier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433563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13E7716-47FF-82D3-AEC3-F0041DF7EC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809558"/>
          </a:xfrm>
        </p:spPr>
        <p:txBody>
          <a:bodyPr/>
          <a:lstStyle/>
          <a:p>
            <a:r>
              <a:rPr lang="en-US" b="1" dirty="0">
                <a:latin typeface="Aparajita" panose="02020603050405020304" pitchFamily="18" charset="0"/>
                <a:cs typeface="Aparajita" panose="02020603050405020304" pitchFamily="18" charset="0"/>
              </a:rPr>
              <a:t>Thank you.</a:t>
            </a:r>
            <a:endParaRPr lang="en-IN" b="1" dirty="0">
              <a:latin typeface="Aparajita" panose="02020603050405020304" pitchFamily="18" charset="0"/>
              <a:cs typeface="Aparajita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48776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